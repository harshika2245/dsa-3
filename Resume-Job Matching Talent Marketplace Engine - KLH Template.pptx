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smtClean="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Resume–Job Matching &amp; Talent Marketplace Engine</a:t>
            </a:r>
            <a:endParaRPr 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endParaRPr lang="en-US" dirty="0">
              <a:solidFill>
                <a:srgbClr val="0070C0"/>
              </a:solidFill>
            </a:endParaRPr>
          </a:p>
          <a:p>
            <a:r>
              <a:rPr lang="en-US" dirty="0">
                <a:solidFill>
                  <a:srgbClr val="0070C0"/>
                </a:solidFill>
              </a:rPr>
              <a:t>M. Harshika – 2520090047</a:t>
            </a:r>
            <a:endParaRPr lang="en-US" dirty="0">
              <a:solidFill>
                <a:srgbClr val="0070C0"/>
              </a:solidFill>
            </a:endParaRPr>
          </a:p>
          <a:p>
            <a:r>
              <a:rPr lang="en-US" dirty="0">
                <a:solidFill>
                  <a:srgbClr val="0070C0"/>
                </a:solidFill>
              </a:rPr>
              <a:t>Ch. Madhulika – 2520090056</a:t>
            </a:r>
            <a:endParaRPr lang="en-US" dirty="0">
              <a:solidFill>
                <a:srgbClr val="0070C0"/>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Mrs. Ch. Anitha, </a:t>
            </a:r>
            <a:r>
              <a:rPr lang="en-US" sz="1800" b="1" kern="0" dirty="0" smtClea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Asst. Professor, </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CS&amp;IT</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
        <p:nvSpPr>
          <p:cNvPr id="101" name="Body 101"/>
          <p:cNvSpPr txBox="1"/>
          <p:nvPr/>
        </p:nvSpPr>
        <p:spPr>
          <a:xfrm>
            <a:off x="3100000" y="1050000"/>
            <a:ext cx="8300000" cy="5400000"/>
          </a:xfrm>
          <a:prstGeom prst="rect">
            <a:avLst/>
          </a:prstGeom>
          <a:noFill/>
        </p:spPr>
        <p:txBody>
          <a:bodyPr wrap="square" anchor="t">
            <a:normAutofit/>
          </a:bodyPr>
          <a:lstStyle/>
          <a:p>
            <a:pPr>
              <a:lnSpc>
                <a:spcPct val="105000"/>
              </a:lnSpc>
              <a:spcAft>
                <a:spcPts val="1200"/>
              </a:spcAft>
              <a:buNone/>
            </a:pPr>
            <a:r>
              <a:rPr lang="en-US" sz="1900" b="0" i="0" dirty="0">
                <a:solidFill>
                  <a:srgbClr val="000000"/>
                </a:solidFill>
                <a:latin typeface="Calibri" panose="020F0502020204030204" pitchFamily="34" charset="0"/>
              </a:rPr>
              <a:t>The Resume–Job Matching &amp; Talent Marketplace Engine is a comprehensive platform designed to simulate real-world recruitment systems by integrating multiple functional modules. In today's dynamic job market, students often lack clarity on their eligibility, while recruiters face challenges in screening numerous resumes.</a:t>
            </a:r>
            <a:endParaRPr lang="en-US" sz="1900" b="0" i="0" dirty="0">
              <a:solidFill>
                <a:srgbClr val="000000"/>
              </a:solidFill>
              <a:latin typeface="Calibri" panose="020F0502020204030204" pitchFamily="34" charset="0"/>
            </a:endParaRPr>
          </a:p>
          <a:p>
            <a:pPr>
              <a:lnSpc>
                <a:spcPct val="105000"/>
              </a:lnSpc>
              <a:spcAft>
                <a:spcPts val="1200"/>
              </a:spcAft>
              <a:buNone/>
            </a:pPr>
            <a:r>
              <a:rPr lang="en-US" sz="1900" b="0" i="0" dirty="0">
                <a:solidFill>
                  <a:srgbClr val="000000"/>
                </a:solidFill>
                <a:latin typeface="Calibri" panose="020F0502020204030204" pitchFamily="34" charset="0"/>
              </a:rPr>
              <a:t>The system includes a student module for profile creation and resume upload, where key information such as skills, education, and projects is extracted, and a recruiter module for posting job requirements. The core component is the matching engine, which uses data structures and algorithms like hashing, string matching, and priority queues to compare skills and rank candidates based on compatibility scores.</a:t>
            </a:r>
            <a:endParaRPr lang="en-US" sz="1900" b="0" i="0" dirty="0">
              <a:solidFill>
                <a:srgbClr val="000000"/>
              </a:solidFill>
              <a:latin typeface="Calibri" panose="020F0502020204030204" pitchFamily="34" charset="0"/>
            </a:endParaRPr>
          </a:p>
          <a:p>
            <a:pPr>
              <a:lnSpc>
                <a:spcPct val="105000"/>
              </a:lnSpc>
              <a:spcAft>
                <a:spcPts val="0"/>
              </a:spcAft>
              <a:buNone/>
            </a:pPr>
            <a:r>
              <a:rPr lang="en-US" sz="1900" b="0" i="0" dirty="0">
                <a:solidFill>
                  <a:srgbClr val="000000"/>
                </a:solidFill>
                <a:latin typeface="Calibri" panose="020F0502020204030204" pitchFamily="34" charset="0"/>
              </a:rPr>
              <a:t>Additional features such as skill gap analysis, career roadmap generation, and mock interview preparation enhance its practical value — helping students improve employability while enabling efficient and accurate candidate selection for recruiters.</a:t>
            </a:r>
            <a:endParaRPr lang="en-US" sz="1900" b="0" i="0" dirty="0">
              <a:solidFill>
                <a:srgbClr val="000000"/>
              </a:solidFill>
              <a:latin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 1"/>
          <p:cNvSpPr/>
          <p:nvPr/>
        </p:nvSpPr>
        <p:spPr>
          <a:xfrm>
            <a:off x="3209290" y="1358265"/>
            <a:ext cx="3534410" cy="936625"/>
          </a:xfrm>
          <a:prstGeom prst="rect">
            <a:avLst/>
          </a:prstGeom>
          <a:noFill/>
        </p:spPr>
        <p:txBody>
          <a:bodyPr wrap="square" lIns="0" tIns="0" rIns="0" bIns="0" rtlCol="0" anchor="t">
            <a:noAutofit/>
          </a:bodyPr>
          <a:lstStyle/>
          <a:p>
            <a:pPr marL="0" indent="0" algn="l">
              <a:lnSpc>
                <a:spcPct val="127000"/>
              </a:lnSpc>
              <a:buNone/>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Large job marketplaces create two parallel challenges:</a:t>
            </a:r>
            <a:endPar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endParaRPr>
          </a:p>
        </p:txBody>
      </p:sp>
      <p:sp>
        <p:nvSpPr>
          <p:cNvPr id="5" name="Text 2"/>
          <p:cNvSpPr/>
          <p:nvPr/>
        </p:nvSpPr>
        <p:spPr>
          <a:xfrm>
            <a:off x="3209290" y="2289175"/>
            <a:ext cx="3534410" cy="1615440"/>
          </a:xfrm>
          <a:prstGeom prst="rect">
            <a:avLst/>
          </a:prstGeom>
          <a:noFill/>
        </p:spPr>
        <p:txBody>
          <a:bodyPr wrap="square" lIns="0" tIns="68047" rIns="0" bIns="0" rtlCol="0" anchor="t">
            <a:noAutofit/>
          </a:bodyPr>
          <a:lstStyle/>
          <a:p>
            <a:pPr marL="264160" indent="-264160" algn="l">
              <a:lnSpc>
                <a:spcPct val="127000"/>
              </a:lnSpc>
              <a:buSzPct val="100000"/>
              <a:buChar char="•"/>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Candidates struggle to find relevant postings among many noisy results.</a:t>
            </a:r>
            <a:endParaRPr lang="en-US" dirty="0">
              <a:latin typeface="Times New Roman" panose="02020603050405020304" pitchFamily="18" charset="0"/>
              <a:cs typeface="Times New Roman" panose="02020603050405020304" pitchFamily="18" charset="0"/>
            </a:endParaRPr>
          </a:p>
          <a:p>
            <a:pPr marL="264160" indent="-264160" algn="l">
              <a:lnSpc>
                <a:spcPct val="127000"/>
              </a:lnSpc>
              <a:buSzPct val="100000"/>
              <a:buChar char="•"/>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Recruiters expend substantial time screening resumes with low precision.</a:t>
            </a:r>
            <a:endPar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endParaRPr>
          </a:p>
        </p:txBody>
      </p:sp>
      <p:sp>
        <p:nvSpPr>
          <p:cNvPr id="6" name="Text 3"/>
          <p:cNvSpPr/>
          <p:nvPr/>
        </p:nvSpPr>
        <p:spPr>
          <a:xfrm>
            <a:off x="3209290" y="4232275"/>
            <a:ext cx="3534410" cy="1648460"/>
          </a:xfrm>
          <a:prstGeom prst="rect">
            <a:avLst/>
          </a:prstGeom>
          <a:noFill/>
        </p:spPr>
        <p:txBody>
          <a:bodyPr wrap="square" lIns="0" tIns="0" rIns="0" bIns="0" rtlCol="0" anchor="t">
            <a:noAutofit/>
          </a:bodyPr>
          <a:lstStyle/>
          <a:p>
            <a:pPr marL="0" indent="0" algn="l">
              <a:lnSpc>
                <a:spcPct val="127000"/>
              </a:lnSpc>
              <a:buNone/>
            </a:pPr>
            <a:r>
              <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rPr>
              <a:t>This project applies data-structure-driven organization plus search and ranking algorithms to improve precision and speed of recommendations.</a:t>
            </a:r>
            <a:endParaRPr lang="en-US" dirty="0">
              <a:solidFill>
                <a:srgbClr val="464646"/>
              </a:solidFill>
              <a:latin typeface="Times New Roman" panose="02020603050405020304" pitchFamily="18" charset="0"/>
              <a:ea typeface="Inter Medium" panose="02000503000000020004" pitchFamily="34" charset="-122"/>
              <a:cs typeface="Times New Roman" panose="02020603050405020304" pitchFamily="18" charset="0"/>
            </a:endParaRPr>
          </a:p>
        </p:txBody>
      </p:sp>
      <p:pic>
        <p:nvPicPr>
          <p:cNvPr id="7" name="Image 0" descr="preencoded.png"/>
          <p:cNvPicPr>
            <a:picLocks noChangeAspect="1"/>
          </p:cNvPicPr>
          <p:nvPr/>
        </p:nvPicPr>
        <p:blipFill>
          <a:blip r:embed="rId1"/>
          <a:stretch>
            <a:fillRect/>
          </a:stretch>
        </p:blipFill>
        <p:spPr>
          <a:xfrm>
            <a:off x="7201034" y="1223863"/>
            <a:ext cx="4656914" cy="46570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endParaRPr lang="en-US" sz="3200" b="1" dirty="0">
              <a:solidFill>
                <a:schemeClr val="bg1"/>
              </a:solidFill>
            </a:endParaRPr>
          </a:p>
        </p:txBody>
      </p:sp>
      <p:sp>
        <p:nvSpPr>
          <p:cNvPr id="101" name="Body 101"/>
          <p:cNvSpPr txBox="1"/>
          <p:nvPr/>
        </p:nvSpPr>
        <p:spPr>
          <a:xfrm>
            <a:off x="2926645" y="978245"/>
            <a:ext cx="8300000" cy="5200000"/>
          </a:xfrm>
          <a:prstGeom prst="rect">
            <a:avLst/>
          </a:prstGeom>
          <a:noFill/>
        </p:spPr>
        <p:txBody>
          <a:bodyPr wrap="square" anchor="t">
            <a:normAutofit/>
          </a:bodyPr>
          <a:lstStyle/>
          <a:p>
            <a:pPr marL="285750" indent="-285750">
              <a:lnSpc>
                <a:spcPct val="105000"/>
              </a:lnSpc>
              <a:spcAft>
                <a:spcPts val="650"/>
              </a:spcAft>
              <a:buFont typeface="Arial" panose="020B0604020202020204" pitchFamily="34" charset="0"/>
              <a:buChar char="•"/>
            </a:pPr>
            <a:r>
              <a:rPr lang="en-US" sz="2000" b="1" i="0" dirty="0">
                <a:solidFill>
                  <a:srgbClr val="C00000"/>
                </a:solidFill>
                <a:latin typeface="Calibri" panose="020F0502020204030204" pitchFamily="34" charset="0"/>
              </a:rPr>
              <a:t>Traditional Portals: </a:t>
            </a:r>
            <a:r>
              <a:rPr lang="en-US" sz="2000" b="0" i="0" dirty="0">
                <a:solidFill>
                  <a:srgbClr val="000000"/>
                </a:solidFill>
                <a:latin typeface="Calibri" panose="020F0502020204030204" pitchFamily="34" charset="0"/>
              </a:rPr>
              <a:t>Large listings but high irrelevance; keyword matching yields many false positives.</a:t>
            </a:r>
            <a:endParaRPr lang="en-US" sz="2000" b="0" i="0" dirty="0">
              <a:solidFill>
                <a:srgbClr val="000000"/>
              </a:solidFill>
              <a:latin typeface="Calibri" panose="020F0502020204030204" pitchFamily="34" charset="0"/>
            </a:endParaRPr>
          </a:p>
          <a:p>
            <a:pPr marL="285750" indent="-285750">
              <a:lnSpc>
                <a:spcPct val="105000"/>
              </a:lnSpc>
              <a:spcAft>
                <a:spcPts val="650"/>
              </a:spcAft>
              <a:buFont typeface="Arial" panose="020B0604020202020204" pitchFamily="34" charset="0"/>
              <a:buChar char="•"/>
            </a:pPr>
            <a:r>
              <a:rPr lang="en-US" sz="2000" b="1" i="0" dirty="0">
                <a:solidFill>
                  <a:srgbClr val="C00000"/>
                </a:solidFill>
                <a:latin typeface="Calibri" panose="020F0502020204030204" pitchFamily="34" charset="0"/>
              </a:rPr>
              <a:t>Keyword Matching: </a:t>
            </a:r>
            <a:r>
              <a:rPr lang="en-US" sz="2000" b="0" i="0" dirty="0">
                <a:solidFill>
                  <a:srgbClr val="000000"/>
                </a:solidFill>
                <a:latin typeface="Calibri" panose="020F0502020204030204" pitchFamily="34" charset="0"/>
              </a:rPr>
              <a:t>Fast and simple, but lacks semantic context and weighted importance of skills.</a:t>
            </a:r>
            <a:endParaRPr lang="en-US" sz="2000" b="0" i="0" dirty="0">
              <a:solidFill>
                <a:srgbClr val="000000"/>
              </a:solidFill>
              <a:latin typeface="Calibri" panose="020F0502020204030204" pitchFamily="34" charset="0"/>
            </a:endParaRPr>
          </a:p>
          <a:p>
            <a:pPr marL="285750" indent="-285750">
              <a:lnSpc>
                <a:spcPct val="105000"/>
              </a:lnSpc>
              <a:spcAft>
                <a:spcPts val="650"/>
              </a:spcAft>
              <a:buFont typeface="Arial" panose="020B0604020202020204" pitchFamily="34" charset="0"/>
              <a:buChar char="•"/>
            </a:pPr>
            <a:r>
              <a:rPr lang="en-US" sz="2000" b="1" i="0" dirty="0">
                <a:solidFill>
                  <a:srgbClr val="C00000"/>
                </a:solidFill>
                <a:latin typeface="Calibri" panose="020F0502020204030204" pitchFamily="34" charset="0"/>
              </a:rPr>
              <a:t>Recommendation Platforms: </a:t>
            </a:r>
            <a:r>
              <a:rPr lang="en-US" sz="2000" b="0" i="0" dirty="0">
                <a:solidFill>
                  <a:srgbClr val="000000"/>
                </a:solidFill>
                <a:latin typeface="Calibri" panose="020F0502020204030204" pitchFamily="34" charset="0"/>
              </a:rPr>
              <a:t>Personalization works at scale but often needs large behavioral datasets and complex tuning.</a:t>
            </a:r>
            <a:endParaRPr lang="en-US" sz="2000" b="0" i="0" dirty="0">
              <a:solidFill>
                <a:srgbClr val="000000"/>
              </a:solidFill>
              <a:latin typeface="Calibri" panose="020F0502020204030204" pitchFamily="34" charset="0"/>
            </a:endParaRPr>
          </a:p>
          <a:p>
            <a:pPr marL="285750" indent="-285750">
              <a:lnSpc>
                <a:spcPct val="105000"/>
              </a:lnSpc>
              <a:spcAft>
                <a:spcPts val="650"/>
              </a:spcAft>
              <a:buFont typeface="Arial" panose="020B0604020202020204" pitchFamily="34" charset="0"/>
              <a:buChar char="•"/>
            </a:pPr>
            <a:r>
              <a:rPr lang="en-US" sz="2000" b="1" i="0" dirty="0">
                <a:solidFill>
                  <a:srgbClr val="C00000"/>
                </a:solidFill>
                <a:latin typeface="Calibri" panose="020F0502020204030204" pitchFamily="34" charset="0"/>
              </a:rPr>
              <a:t>Proposed DSA Approach: </a:t>
            </a:r>
            <a:r>
              <a:rPr lang="en-US" sz="2000" b="0" i="0" dirty="0">
                <a:solidFill>
                  <a:srgbClr val="000000"/>
                </a:solidFill>
                <a:latin typeface="Calibri" panose="020F0502020204030204" pitchFamily="34" charset="0"/>
              </a:rPr>
              <a:t>Combines structured storage, algorithmic search, and ranking heuristics to be efficient, interpretable, and extendable with AI.</a:t>
            </a:r>
            <a:endParaRPr lang="en-US" sz="2000" b="0" i="0" dirty="0">
              <a:solidFill>
                <a:srgbClr val="000000"/>
              </a:solidFill>
              <a:latin typeface="Calibri" panose="020F0502020204030204" pitchFamily="34" charset="0"/>
            </a:endParaRPr>
          </a:p>
          <a:p>
            <a:pPr>
              <a:lnSpc>
                <a:spcPct val="105000"/>
              </a:lnSpc>
              <a:spcAft>
                <a:spcPts val="0"/>
              </a:spcAft>
              <a:buNone/>
            </a:pPr>
            <a:r>
              <a:rPr lang="en-US" sz="2000" b="1" i="0" dirty="0">
                <a:solidFill>
                  <a:srgbClr val="C00000"/>
                </a:solidFill>
                <a:latin typeface="Calibri" panose="020F0502020204030204" pitchFamily="34" charset="0"/>
              </a:rPr>
              <a:t>Research gap: an efficient, explainable pipeline combining organization, search, matching, and ranking for mid-sized datasets without heavy ML dependencies.</a:t>
            </a:r>
            <a:endParaRPr lang="en-US" sz="2000" b="1" i="0" dirty="0">
              <a:solidFill>
                <a:srgbClr val="C00000"/>
              </a:solidFill>
              <a:latin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endParaRPr lang="en-US" sz="3200" b="1" dirty="0">
              <a:solidFill>
                <a:schemeClr val="bg1"/>
              </a:solidFill>
            </a:endParaRPr>
          </a:p>
        </p:txBody>
      </p:sp>
      <p:sp>
        <p:nvSpPr>
          <p:cNvPr id="101" name="Body 101"/>
          <p:cNvSpPr txBox="1"/>
          <p:nvPr/>
        </p:nvSpPr>
        <p:spPr>
          <a:xfrm>
            <a:off x="3100000" y="1050000"/>
            <a:ext cx="4000000" cy="5400000"/>
          </a:xfrm>
          <a:prstGeom prst="rect">
            <a:avLst/>
          </a:prstGeom>
          <a:noFill/>
        </p:spPr>
        <p:txBody>
          <a:bodyPr wrap="square" anchor="t">
            <a:normAutofit/>
          </a:bodyPr>
          <a:lstStyle/>
          <a:p>
            <a:pPr>
              <a:lnSpc>
                <a:spcPct val="105000"/>
              </a:lnSpc>
              <a:spcAft>
                <a:spcPts val="500"/>
              </a:spcAft>
              <a:buNone/>
            </a:pPr>
            <a:r>
              <a:rPr lang="en-US" sz="2400" b="1" i="0" dirty="0">
                <a:solidFill>
                  <a:srgbClr val="C00000"/>
                </a:solidFill>
                <a:latin typeface="Calibri" panose="020F0502020204030204" pitchFamily="34" charset="0"/>
              </a:rPr>
              <a:t>Problem Statement</a:t>
            </a:r>
            <a:endParaRPr lang="en-US" sz="2400" b="1" i="0" dirty="0">
              <a:solidFill>
                <a:srgbClr val="C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Efficiently store candidate and job records for quick access.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Search and retrieve relevant jobs for a candidate using algorithmic techniques.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Compute interpretable matching scores comparing skills, qualifications, and experience.</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Sort and rank results so the most suitable opportunities surface first.</a:t>
            </a:r>
            <a:endParaRPr lang="en-US" b="0" i="0" dirty="0">
              <a:solidFill>
                <a:srgbClr val="000000"/>
              </a:solidFill>
              <a:latin typeface="Calibri" panose="020F0502020204030204" pitchFamily="34" charset="0"/>
            </a:endParaRPr>
          </a:p>
          <a:p>
            <a:pPr>
              <a:lnSpc>
                <a:spcPct val="105000"/>
              </a:lnSpc>
              <a:spcAft>
                <a:spcPts val="0"/>
              </a:spcAft>
              <a:buNone/>
            </a:pPr>
            <a:r>
              <a:rPr lang="en-US" sz="1600" b="0" i="1" dirty="0">
                <a:solidFill>
                  <a:srgbClr val="000000"/>
                </a:solidFill>
                <a:latin typeface="Calibri" panose="020F0502020204030204" pitchFamily="34" charset="0"/>
              </a:rPr>
              <a:t>Challenges addressed: scale of listings, manual screening effort, irrelevant recommendations, and ranking by suitability as data grows.</a:t>
            </a:r>
            <a:endParaRPr lang="en-US" sz="1600" b="0" i="1" dirty="0">
              <a:solidFill>
                <a:srgbClr val="000000"/>
              </a:solidFill>
              <a:latin typeface="Calibri" panose="020F0502020204030204" pitchFamily="34" charset="0"/>
            </a:endParaRPr>
          </a:p>
        </p:txBody>
      </p:sp>
      <p:sp>
        <p:nvSpPr>
          <p:cNvPr id="102" name="Body 102"/>
          <p:cNvSpPr txBox="1"/>
          <p:nvPr/>
        </p:nvSpPr>
        <p:spPr>
          <a:xfrm>
            <a:off x="7400000" y="1050000"/>
            <a:ext cx="4000000" cy="5400000"/>
          </a:xfrm>
          <a:prstGeom prst="rect">
            <a:avLst/>
          </a:prstGeom>
          <a:noFill/>
        </p:spPr>
        <p:txBody>
          <a:bodyPr wrap="square" anchor="t">
            <a:normAutofit/>
          </a:bodyPr>
          <a:lstStyle/>
          <a:p>
            <a:pPr>
              <a:lnSpc>
                <a:spcPct val="105000"/>
              </a:lnSpc>
              <a:spcAft>
                <a:spcPts val="500"/>
              </a:spcAft>
              <a:buNone/>
            </a:pPr>
            <a:r>
              <a:rPr lang="en-US" sz="2400" b="1" i="0" dirty="0">
                <a:solidFill>
                  <a:srgbClr val="C00000"/>
                </a:solidFill>
                <a:latin typeface="Calibri" panose="020F0502020204030204" pitchFamily="34" charset="0"/>
              </a:rPr>
              <a:t>Objectives</a:t>
            </a:r>
            <a:endParaRPr lang="en-US" sz="2400" b="1" i="0" dirty="0">
              <a:solidFill>
                <a:srgbClr val="C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Design compact, indexable representations for resumes and job descriptions.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Implement search routines that leverage hashing and sorted indexes.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Define a clear skill-based match score with experience/qualification weights.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Apply efficient sorting and top-k retrieval for ranked recommendations.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Demonstrate practical DSA usage with examples and complexity analysis.</a:t>
            </a:r>
            <a:endParaRPr lang="en-US" b="0" i="0" dirty="0">
              <a:solidFill>
                <a:srgbClr val="000000"/>
              </a:solidFill>
              <a:latin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endParaRPr lang="en-US" sz="3200" b="1" dirty="0">
              <a:solidFill>
                <a:schemeClr val="bg1"/>
              </a:solidFill>
            </a:endParaRPr>
          </a:p>
        </p:txBody>
      </p:sp>
      <p:sp>
        <p:nvSpPr>
          <p:cNvPr id="200" name="FlowBox 200"/>
          <p:cNvSpPr/>
          <p:nvPr/>
        </p:nvSpPr>
        <p:spPr>
          <a:xfrm>
            <a:off x="92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600" b="1" dirty="0">
                <a:solidFill>
                  <a:srgbClr val="FFFFFF"/>
                </a:solidFill>
                <a:latin typeface="Calibri" panose="020F0502020204030204" pitchFamily="34" charset="0"/>
              </a:rPr>
              <a:t>Extract</a:t>
            </a:r>
            <a:endParaRPr lang="en-US" sz="1600" b="1" dirty="0">
              <a:solidFill>
                <a:srgbClr val="FFFFFF"/>
              </a:solidFill>
              <a:latin typeface="Calibri" panose="020F0502020204030204" pitchFamily="34" charset="0"/>
            </a:endParaRPr>
          </a:p>
        </p:txBody>
      </p:sp>
      <p:sp>
        <p:nvSpPr>
          <p:cNvPr id="201" name="Arrow 201"/>
          <p:cNvSpPr/>
          <p:nvPr/>
        </p:nvSpPr>
        <p:spPr>
          <a:xfrm>
            <a:off x="2571000" y="2390000"/>
            <a:ext cx="90000" cy="120000"/>
          </a:xfrm>
          <a:prstGeom prst="rightArrow">
            <a:avLst/>
          </a:prstGeom>
          <a:solidFill>
            <a:srgbClr val="C00000"/>
          </a:solidFill>
          <a:ln>
            <a:noFill/>
          </a:ln>
        </p:spPr>
        <p:txBody>
          <a:bodyPr/>
          <a:lstStyle/>
          <a:p>
            <a:endParaRPr lang="en-US"/>
          </a:p>
        </p:txBody>
      </p:sp>
      <p:sp>
        <p:nvSpPr>
          <p:cNvPr id="202" name="FlowBox 202"/>
          <p:cNvSpPr/>
          <p:nvPr/>
        </p:nvSpPr>
        <p:spPr>
          <a:xfrm>
            <a:off x="266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600" b="1" dirty="0">
                <a:solidFill>
                  <a:srgbClr val="FFFFFF"/>
                </a:solidFill>
                <a:latin typeface="Calibri" panose="020F0502020204030204" pitchFamily="34" charset="0"/>
              </a:rPr>
              <a:t>Structure</a:t>
            </a:r>
            <a:endParaRPr lang="en-US" sz="1600" b="1" dirty="0">
              <a:solidFill>
                <a:srgbClr val="FFFFFF"/>
              </a:solidFill>
              <a:latin typeface="Calibri" panose="020F0502020204030204" pitchFamily="34" charset="0"/>
            </a:endParaRPr>
          </a:p>
        </p:txBody>
      </p:sp>
      <p:sp>
        <p:nvSpPr>
          <p:cNvPr id="203" name="Arrow 203"/>
          <p:cNvSpPr/>
          <p:nvPr/>
        </p:nvSpPr>
        <p:spPr>
          <a:xfrm>
            <a:off x="4311000" y="2390000"/>
            <a:ext cx="90000" cy="120000"/>
          </a:xfrm>
          <a:prstGeom prst="rightArrow">
            <a:avLst/>
          </a:prstGeom>
          <a:solidFill>
            <a:srgbClr val="C00000"/>
          </a:solidFill>
          <a:ln>
            <a:noFill/>
          </a:ln>
        </p:spPr>
        <p:txBody>
          <a:bodyPr/>
          <a:lstStyle/>
          <a:p>
            <a:endParaRPr lang="en-US"/>
          </a:p>
        </p:txBody>
      </p:sp>
      <p:sp>
        <p:nvSpPr>
          <p:cNvPr id="204" name="FlowBox 204"/>
          <p:cNvSpPr/>
          <p:nvPr/>
        </p:nvSpPr>
        <p:spPr>
          <a:xfrm>
            <a:off x="440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600" b="1" dirty="0">
                <a:solidFill>
                  <a:srgbClr val="FFFFFF"/>
                </a:solidFill>
                <a:latin typeface="Calibri" panose="020F0502020204030204" pitchFamily="34" charset="0"/>
              </a:rPr>
              <a:t>Index</a:t>
            </a:r>
            <a:endParaRPr lang="en-US" sz="1600" b="1" dirty="0">
              <a:solidFill>
                <a:srgbClr val="FFFFFF"/>
              </a:solidFill>
              <a:latin typeface="Calibri" panose="020F0502020204030204" pitchFamily="34" charset="0"/>
            </a:endParaRPr>
          </a:p>
        </p:txBody>
      </p:sp>
      <p:sp>
        <p:nvSpPr>
          <p:cNvPr id="205" name="Arrow 205"/>
          <p:cNvSpPr/>
          <p:nvPr/>
        </p:nvSpPr>
        <p:spPr>
          <a:xfrm>
            <a:off x="6051000" y="2390000"/>
            <a:ext cx="90000" cy="120000"/>
          </a:xfrm>
          <a:prstGeom prst="rightArrow">
            <a:avLst/>
          </a:prstGeom>
          <a:solidFill>
            <a:srgbClr val="C00000"/>
          </a:solidFill>
          <a:ln>
            <a:noFill/>
          </a:ln>
        </p:spPr>
        <p:txBody>
          <a:bodyPr/>
          <a:lstStyle/>
          <a:p>
            <a:endParaRPr lang="en-US"/>
          </a:p>
        </p:txBody>
      </p:sp>
      <p:sp>
        <p:nvSpPr>
          <p:cNvPr id="206" name="FlowBox 206"/>
          <p:cNvSpPr/>
          <p:nvPr/>
        </p:nvSpPr>
        <p:spPr>
          <a:xfrm>
            <a:off x="614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600" b="1" dirty="0">
                <a:solidFill>
                  <a:srgbClr val="FFFFFF"/>
                </a:solidFill>
                <a:latin typeface="Calibri" panose="020F0502020204030204" pitchFamily="34" charset="0"/>
              </a:rPr>
              <a:t>Search</a:t>
            </a:r>
            <a:endParaRPr lang="en-US" sz="1600" b="1" dirty="0">
              <a:solidFill>
                <a:srgbClr val="FFFFFF"/>
              </a:solidFill>
              <a:latin typeface="Calibri" panose="020F0502020204030204" pitchFamily="34" charset="0"/>
            </a:endParaRPr>
          </a:p>
        </p:txBody>
      </p:sp>
      <p:sp>
        <p:nvSpPr>
          <p:cNvPr id="207" name="Arrow 207"/>
          <p:cNvSpPr/>
          <p:nvPr/>
        </p:nvSpPr>
        <p:spPr>
          <a:xfrm>
            <a:off x="7791000" y="2390000"/>
            <a:ext cx="90000" cy="120000"/>
          </a:xfrm>
          <a:prstGeom prst="rightArrow">
            <a:avLst/>
          </a:prstGeom>
          <a:solidFill>
            <a:srgbClr val="C00000"/>
          </a:solidFill>
          <a:ln>
            <a:noFill/>
          </a:ln>
        </p:spPr>
        <p:txBody>
          <a:bodyPr/>
          <a:lstStyle/>
          <a:p>
            <a:endParaRPr lang="en-US"/>
          </a:p>
        </p:txBody>
      </p:sp>
      <p:sp>
        <p:nvSpPr>
          <p:cNvPr id="208" name="FlowBox 208"/>
          <p:cNvSpPr/>
          <p:nvPr/>
        </p:nvSpPr>
        <p:spPr>
          <a:xfrm>
            <a:off x="788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600" b="1" dirty="0">
                <a:solidFill>
                  <a:srgbClr val="FFFFFF"/>
                </a:solidFill>
                <a:latin typeface="Calibri" panose="020F0502020204030204" pitchFamily="34" charset="0"/>
              </a:rPr>
              <a:t>Compare</a:t>
            </a:r>
            <a:endParaRPr lang="en-US" sz="1600" b="1" dirty="0">
              <a:solidFill>
                <a:srgbClr val="FFFFFF"/>
              </a:solidFill>
              <a:latin typeface="Calibri" panose="020F0502020204030204" pitchFamily="34" charset="0"/>
            </a:endParaRPr>
          </a:p>
        </p:txBody>
      </p:sp>
      <p:sp>
        <p:nvSpPr>
          <p:cNvPr id="209" name="Arrow 209"/>
          <p:cNvSpPr/>
          <p:nvPr/>
        </p:nvSpPr>
        <p:spPr>
          <a:xfrm>
            <a:off x="9531000" y="2390000"/>
            <a:ext cx="90000" cy="120000"/>
          </a:xfrm>
          <a:prstGeom prst="rightArrow">
            <a:avLst/>
          </a:prstGeom>
          <a:solidFill>
            <a:srgbClr val="C00000"/>
          </a:solidFill>
          <a:ln>
            <a:noFill/>
          </a:ln>
        </p:spPr>
        <p:txBody>
          <a:bodyPr/>
          <a:lstStyle/>
          <a:p>
            <a:endParaRPr lang="en-US"/>
          </a:p>
        </p:txBody>
      </p:sp>
      <p:sp>
        <p:nvSpPr>
          <p:cNvPr id="210" name="FlowBox 210"/>
          <p:cNvSpPr/>
          <p:nvPr/>
        </p:nvSpPr>
        <p:spPr>
          <a:xfrm>
            <a:off x="9621000" y="2000000"/>
            <a:ext cx="1650000" cy="900000"/>
          </a:xfrm>
          <a:prstGeom prst="roundRect">
            <a:avLst/>
          </a:prstGeom>
          <a:solidFill>
            <a:srgbClr val="C00000"/>
          </a:solidFill>
          <a:ln>
            <a:solidFill>
              <a:srgbClr val="C00000"/>
            </a:solidFill>
          </a:ln>
        </p:spPr>
        <p:txBody>
          <a:bodyPr wrap="square" rtlCol="0" anchor="ctr">
            <a:normAutofit/>
          </a:bodyPr>
          <a:lstStyle/>
          <a:p>
            <a:pPr algn="ctr"/>
            <a:r>
              <a:rPr lang="en-US" sz="1600" b="1" dirty="0">
                <a:solidFill>
                  <a:srgbClr val="FFFFFF"/>
                </a:solidFill>
                <a:latin typeface="Calibri" panose="020F0502020204030204" pitchFamily="34" charset="0"/>
              </a:rPr>
              <a:t>Recommend</a:t>
            </a:r>
            <a:endParaRPr lang="en-US" sz="1600" b="1" dirty="0">
              <a:solidFill>
                <a:srgbClr val="FFFFFF"/>
              </a:solidFill>
              <a:latin typeface="Calibri" panose="020F0502020204030204" pitchFamily="34" charset="0"/>
            </a:endParaRPr>
          </a:p>
        </p:txBody>
      </p:sp>
      <p:sp>
        <p:nvSpPr>
          <p:cNvPr id="211" name="Body 211"/>
          <p:cNvSpPr txBox="1"/>
          <p:nvPr/>
        </p:nvSpPr>
        <p:spPr>
          <a:xfrm>
            <a:off x="3100000" y="3400000"/>
            <a:ext cx="8300000" cy="1600000"/>
          </a:xfrm>
          <a:prstGeom prst="rect">
            <a:avLst/>
          </a:prstGeom>
          <a:noFill/>
        </p:spPr>
        <p:txBody>
          <a:bodyPr wrap="square" anchor="t">
            <a:normAutofit/>
          </a:bodyPr>
          <a:lstStyle/>
          <a:p>
            <a:pPr>
              <a:lnSpc>
                <a:spcPct val="105000"/>
              </a:lnSpc>
              <a:spcAft>
                <a:spcPts val="0"/>
              </a:spcAft>
              <a:buNone/>
            </a:pPr>
            <a:r>
              <a:rPr lang="en-US" sz="1900" b="0" i="0" dirty="0">
                <a:solidFill>
                  <a:srgbClr val="000000"/>
                </a:solidFill>
                <a:latin typeface="Calibri" panose="020F0502020204030204" pitchFamily="34" charset="0"/>
              </a:rPr>
              <a:t>The pipeline transforms raw resumes into structured records, indexes them for fast lookup, computes a normalized match score, and returns the top-k ranked job recommendations.</a:t>
            </a:r>
            <a:endParaRPr lang="en-US" sz="1900" b="0" i="0" dirty="0">
              <a:solidFill>
                <a:srgbClr val="000000"/>
              </a:solidFill>
              <a:latin typeface="Calibri" panose="020F0502020204030204" pitchFamily="34" charset="0"/>
            </a:endParaRPr>
          </a:p>
        </p:txBody>
      </p:sp>
      <p:sp>
        <p:nvSpPr>
          <p:cNvPr id="212" name="Body 212"/>
          <p:cNvSpPr txBox="1"/>
          <p:nvPr/>
        </p:nvSpPr>
        <p:spPr>
          <a:xfrm>
            <a:off x="3100000" y="5150000"/>
            <a:ext cx="8300000" cy="1200000"/>
          </a:xfrm>
          <a:prstGeom prst="rect">
            <a:avLst/>
          </a:prstGeom>
          <a:noFill/>
        </p:spPr>
        <p:txBody>
          <a:bodyPr wrap="square" anchor="t">
            <a:normAutofit/>
          </a:bodyPr>
          <a:lstStyle/>
          <a:p>
            <a:pPr>
              <a:lnSpc>
                <a:spcPct val="105000"/>
              </a:lnSpc>
              <a:spcAft>
                <a:spcPts val="300"/>
              </a:spcAft>
              <a:buNone/>
            </a:pPr>
            <a:r>
              <a:rPr lang="en-US" sz="1700" b="0" i="0" dirty="0">
                <a:solidFill>
                  <a:srgbClr val="000000"/>
                </a:solidFill>
                <a:latin typeface="Calibri" panose="020F0502020204030204" pitchFamily="34" charset="0"/>
              </a:rPr>
              <a:t>Example: Candidate skills = {Java, SQL, HTML, DSA}; Job requires = {Java, SQL, DSA, Python}</a:t>
            </a:r>
            <a:endParaRPr lang="en-US" sz="1700" b="0" i="0" dirty="0">
              <a:solidFill>
                <a:srgbClr val="000000"/>
              </a:solidFill>
              <a:latin typeface="Calibri" panose="020F0502020204030204" pitchFamily="34" charset="0"/>
            </a:endParaRPr>
          </a:p>
          <a:p>
            <a:pPr>
              <a:lnSpc>
                <a:spcPct val="105000"/>
              </a:lnSpc>
              <a:spcAft>
                <a:spcPts val="0"/>
              </a:spcAft>
              <a:buNone/>
            </a:pPr>
            <a:r>
              <a:rPr lang="en-US" sz="1700" b="1" i="0" dirty="0">
                <a:solidFill>
                  <a:srgbClr val="C00000"/>
                </a:solidFill>
                <a:latin typeface="Calibri" panose="020F0502020204030204" pitchFamily="34" charset="0"/>
              </a:rPr>
              <a:t>Matches = 3/4 → Match Score = 75% (extendable with weights for experience and qualification).</a:t>
            </a:r>
            <a:endParaRPr lang="en-US" sz="1700" b="1" i="0" dirty="0">
              <a:solidFill>
                <a:srgbClr val="C00000"/>
              </a:solidFill>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1" name="Body 101"/>
          <p:cNvSpPr txBox="1"/>
          <p:nvPr/>
        </p:nvSpPr>
        <p:spPr>
          <a:xfrm>
            <a:off x="3100000" y="1050000"/>
            <a:ext cx="4000000" cy="5500000"/>
          </a:xfrm>
          <a:prstGeom prst="rect">
            <a:avLst/>
          </a:prstGeom>
          <a:noFill/>
        </p:spPr>
        <p:txBody>
          <a:bodyPr wrap="square" anchor="t">
            <a:noAutofit/>
          </a:bodyPr>
          <a:lstStyle/>
          <a:p>
            <a:pPr>
              <a:lnSpc>
                <a:spcPct val="105000"/>
              </a:lnSpc>
              <a:spcAft>
                <a:spcPts val="500"/>
              </a:spcAft>
              <a:buNone/>
            </a:pPr>
            <a:r>
              <a:rPr lang="en-US" sz="2000" b="1" i="0" dirty="0">
                <a:solidFill>
                  <a:srgbClr val="C00000"/>
                </a:solidFill>
                <a:latin typeface="Calibri" panose="020F0502020204030204" pitchFamily="34" charset="0"/>
              </a:rPr>
              <a:t>Data Structures &amp; Algorithms Used</a:t>
            </a:r>
            <a:endParaRPr lang="en-US" sz="2000" b="1" i="0" dirty="0">
              <a:solidFill>
                <a:srgbClr val="C00000"/>
              </a:solidFill>
              <a:latin typeface="Calibri" panose="020F0502020204030204" pitchFamily="34" charset="0"/>
            </a:endParaRP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Calibri" panose="020F0502020204030204" pitchFamily="34" charset="0"/>
              </a:rPr>
              <a:t>HashMap: </a:t>
            </a:r>
            <a:r>
              <a:rPr lang="en-US" sz="1600" b="0" i="0" dirty="0">
                <a:solidFill>
                  <a:srgbClr val="000000"/>
                </a:solidFill>
                <a:latin typeface="Calibri" panose="020F0502020204030204" pitchFamily="34" charset="0"/>
              </a:rPr>
              <a:t>O(1) average lookup for skill presence/frequency; used for candidate skill vectors and inverted indexes.</a:t>
            </a:r>
            <a:endParaRPr lang="en-US" sz="1600" b="0" i="0" dirty="0">
              <a:solidFill>
                <a:srgbClr val="000000"/>
              </a:solidFill>
              <a:latin typeface="Calibri" panose="020F0502020204030204" pitchFamily="34" charset="0"/>
            </a:endParaRP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Calibri" panose="020F0502020204030204" pitchFamily="34" charset="0"/>
              </a:rPr>
              <a:t>Array / ArrayList: </a:t>
            </a:r>
            <a:r>
              <a:rPr lang="en-US" sz="1600" b="0" i="0" dirty="0">
                <a:solidFill>
                  <a:srgbClr val="000000"/>
                </a:solidFill>
                <a:latin typeface="Calibri" panose="020F0502020204030204" pitchFamily="34" charset="0"/>
              </a:rPr>
              <a:t>Stores ordered records; used with binary search after sorting by key attributes.</a:t>
            </a:r>
            <a:endParaRPr lang="en-US" sz="1600" b="0" i="0" dirty="0">
              <a:solidFill>
                <a:srgbClr val="000000"/>
              </a:solidFill>
              <a:latin typeface="Calibri" panose="020F0502020204030204" pitchFamily="34" charset="0"/>
            </a:endParaRP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Calibri" panose="020F0502020204030204" pitchFamily="34" charset="0"/>
              </a:rPr>
              <a:t>Priority Queue / Heap: </a:t>
            </a:r>
            <a:r>
              <a:rPr lang="en-US" sz="1600" b="0" i="0" dirty="0">
                <a:solidFill>
                  <a:srgbClr val="000000"/>
                </a:solidFill>
                <a:latin typeface="Calibri" panose="020F0502020204030204" pitchFamily="34" charset="0"/>
              </a:rPr>
              <a:t>Efficient top-k retrieval (O(n log k)) to return best matches without a full sort.</a:t>
            </a:r>
            <a:endParaRPr lang="en-US" sz="1600" b="0" i="0" dirty="0">
              <a:solidFill>
                <a:srgbClr val="000000"/>
              </a:solidFill>
              <a:latin typeface="Calibri" panose="020F0502020204030204" pitchFamily="34" charset="0"/>
            </a:endParaRP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Calibri" panose="020F0502020204030204" pitchFamily="34" charset="0"/>
              </a:rPr>
              <a:t>Binary &amp; Linear Search: </a:t>
            </a:r>
            <a:r>
              <a:rPr lang="en-US" sz="1600" b="0" i="0" dirty="0">
                <a:solidFill>
                  <a:srgbClr val="000000"/>
                </a:solidFill>
                <a:latin typeface="Calibri" panose="020F0502020204030204" pitchFamily="34" charset="0"/>
              </a:rPr>
              <a:t>Binary search on sorted attributes (e.g., experience); linear scan with pruning for composite queries.</a:t>
            </a:r>
            <a:endParaRPr lang="en-US" sz="1600" b="0" i="0" dirty="0">
              <a:solidFill>
                <a:srgbClr val="000000"/>
              </a:solidFill>
              <a:latin typeface="Calibri" panose="020F0502020204030204" pitchFamily="34" charset="0"/>
            </a:endParaRPr>
          </a:p>
          <a:p>
            <a:pPr marL="285750" indent="-285750">
              <a:lnSpc>
                <a:spcPct val="105000"/>
              </a:lnSpc>
              <a:spcAft>
                <a:spcPts val="350"/>
              </a:spcAft>
              <a:buFont typeface="Arial" panose="020B0604020202020204" pitchFamily="34" charset="0"/>
              <a:buChar char="•"/>
            </a:pPr>
            <a:r>
              <a:rPr lang="en-US" sz="1600" b="1" i="0" dirty="0">
                <a:solidFill>
                  <a:srgbClr val="C00000"/>
                </a:solidFill>
                <a:latin typeface="Calibri" panose="020F0502020204030204" pitchFamily="34" charset="0"/>
              </a:rPr>
              <a:t>Sorting (merge/quick): </a:t>
            </a:r>
            <a:r>
              <a:rPr lang="en-US" sz="1600" b="0" i="0" dirty="0">
                <a:solidFill>
                  <a:srgbClr val="000000"/>
                </a:solidFill>
                <a:latin typeface="Calibri" panose="020F0502020204030204" pitchFamily="34" charset="0"/>
              </a:rPr>
              <a:t>Ranks candidates by computed match scores.</a:t>
            </a:r>
            <a:endParaRPr lang="en-US" sz="1600" b="0" i="0" dirty="0">
              <a:solidFill>
                <a:srgbClr val="000000"/>
              </a:solidFill>
              <a:latin typeface="Calibri" panose="020F0502020204030204" pitchFamily="34" charset="0"/>
            </a:endParaRPr>
          </a:p>
        </p:txBody>
      </p:sp>
      <p:sp>
        <p:nvSpPr>
          <p:cNvPr id="102" name="Body 102"/>
          <p:cNvSpPr txBox="1"/>
          <p:nvPr/>
        </p:nvSpPr>
        <p:spPr>
          <a:xfrm>
            <a:off x="7400000" y="1050000"/>
            <a:ext cx="4000000" cy="5500000"/>
          </a:xfrm>
          <a:prstGeom prst="rect">
            <a:avLst/>
          </a:prstGeom>
          <a:noFill/>
        </p:spPr>
        <p:txBody>
          <a:bodyPr wrap="square" anchor="t">
            <a:normAutofit/>
          </a:bodyPr>
          <a:lstStyle/>
          <a:p>
            <a:pPr>
              <a:lnSpc>
                <a:spcPct val="105000"/>
              </a:lnSpc>
              <a:spcAft>
                <a:spcPts val="600"/>
              </a:spcAft>
              <a:buNone/>
            </a:pPr>
            <a:r>
              <a:rPr lang="en-US" sz="2000" b="1" i="0" dirty="0">
                <a:solidFill>
                  <a:srgbClr val="C00000"/>
                </a:solidFill>
                <a:latin typeface="Calibri" panose="020F0502020204030204" pitchFamily="34" charset="0"/>
              </a:rPr>
              <a:t>Sample Ranked Output — Candidate: Harshika</a:t>
            </a:r>
            <a:endParaRPr lang="en-US" sz="2000" b="1" i="0" dirty="0">
              <a:solidFill>
                <a:srgbClr val="C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Calibri" panose="020F0502020204030204" pitchFamily="34" charset="0"/>
              </a:rPr>
              <a:t>Java Developer — 85%</a:t>
            </a:r>
            <a:endParaRPr lang="en-US" sz="20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Calibri" panose="020F0502020204030204" pitchFamily="34" charset="0"/>
              </a:rPr>
              <a:t>Software Developer — 75%</a:t>
            </a:r>
            <a:endParaRPr lang="en-US" sz="20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Calibri" panose="020F0502020204030204" pitchFamily="34" charset="0"/>
              </a:rPr>
              <a:t>Web Developer — 65%</a:t>
            </a:r>
            <a:endParaRPr lang="en-US" sz="20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2000" b="0" i="0" dirty="0">
                <a:solidFill>
                  <a:srgbClr val="000000"/>
                </a:solidFill>
                <a:latin typeface="Calibri" panose="020F0502020204030204" pitchFamily="34" charset="0"/>
              </a:rPr>
              <a:t>Data Analyst — 50%</a:t>
            </a:r>
            <a:endParaRPr lang="en-US" sz="2000" b="0" i="0" dirty="0">
              <a:solidFill>
                <a:srgbClr val="000000"/>
              </a:solidFill>
              <a:latin typeface="Calibri" panose="020F0502020204030204" pitchFamily="34" charset="0"/>
            </a:endParaRPr>
          </a:p>
          <a:p>
            <a:pPr>
              <a:lnSpc>
                <a:spcPct val="105000"/>
              </a:lnSpc>
              <a:spcAft>
                <a:spcPts val="0"/>
              </a:spcAft>
              <a:buNone/>
            </a:pPr>
            <a:r>
              <a:rPr lang="en-US" sz="1600" b="0" i="1" dirty="0">
                <a:solidFill>
                  <a:srgbClr val="000000"/>
                </a:solidFill>
                <a:latin typeface="Calibri" panose="020F0502020204030204" pitchFamily="34" charset="0"/>
              </a:rPr>
              <a:t>Scores are deterministic given the same inputs (skill overlap + weighting rules); mock data shown, to be replaced with live system output.</a:t>
            </a:r>
            <a:endParaRPr lang="en-US" sz="1600" b="0" i="1" dirty="0">
              <a:solidFill>
                <a:srgbClr val="000000"/>
              </a:solidFill>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1" name="Body 101"/>
          <p:cNvSpPr txBox="1"/>
          <p:nvPr/>
        </p:nvSpPr>
        <p:spPr>
          <a:xfrm>
            <a:off x="3100000" y="1050000"/>
            <a:ext cx="4000000" cy="32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Calibri" panose="020F0502020204030204" pitchFamily="34" charset="0"/>
              </a:rPr>
              <a:t>Hardware</a:t>
            </a:r>
            <a:endParaRPr lang="en-US" sz="2000" b="1" i="0" dirty="0">
              <a:solidFill>
                <a:srgbClr val="C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Laptop / Desktop computer</a:t>
            </a:r>
            <a:endParaRPr lang="en-US" sz="19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Minimum 4 GB RAM</a:t>
            </a:r>
            <a:endParaRPr lang="en-US" sz="19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i3-equivalent CPU or higher</a:t>
            </a:r>
            <a:endParaRPr lang="en-US" sz="1900" b="0" i="0" dirty="0">
              <a:solidFill>
                <a:srgbClr val="000000"/>
              </a:solidFill>
              <a:latin typeface="Calibri" panose="020F0502020204030204" pitchFamily="34" charset="0"/>
            </a:endParaRPr>
          </a:p>
        </p:txBody>
      </p:sp>
      <p:sp>
        <p:nvSpPr>
          <p:cNvPr id="102" name="Body 102"/>
          <p:cNvSpPr txBox="1"/>
          <p:nvPr/>
        </p:nvSpPr>
        <p:spPr>
          <a:xfrm>
            <a:off x="7400000" y="1050000"/>
            <a:ext cx="4000000" cy="38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Calibri" panose="020F0502020204030204" pitchFamily="34" charset="0"/>
              </a:rPr>
              <a:t>Software</a:t>
            </a:r>
            <a:endParaRPr lang="en-US" sz="2000" b="1" i="0" dirty="0">
              <a:solidFill>
                <a:srgbClr val="C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Java runtime environment</a:t>
            </a:r>
            <a:endParaRPr lang="en-US" sz="19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IDE: VS Code / IntelliJ IDEA</a:t>
            </a:r>
            <a:endParaRPr lang="en-US" sz="19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Optional web stack: HTML, CSS, JavaScript</a:t>
            </a:r>
            <a:endParaRPr lang="en-US" sz="19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Database: MySQL / MongoDB</a:t>
            </a:r>
            <a:endParaRPr lang="en-US" sz="1900" b="0" i="0" dirty="0">
              <a:solidFill>
                <a:srgbClr val="000000"/>
              </a:solidFill>
              <a:latin typeface="Calibri" panose="020F0502020204030204" pitchFamily="34" charset="0"/>
            </a:endParaRPr>
          </a:p>
          <a:p>
            <a:pPr marL="285750" indent="-285750">
              <a:lnSpc>
                <a:spcPct val="105000"/>
              </a:lnSpc>
              <a:spcAft>
                <a:spcPts val="500"/>
              </a:spcAft>
              <a:buFont typeface="Arial" panose="020B0604020202020204" pitchFamily="34" charset="0"/>
              <a:buChar char="•"/>
            </a:pPr>
            <a:r>
              <a:rPr lang="en-US" sz="1900" b="0" i="0" dirty="0">
                <a:solidFill>
                  <a:srgbClr val="000000"/>
                </a:solidFill>
                <a:latin typeface="Calibri" panose="020F0502020204030204" pitchFamily="34" charset="0"/>
              </a:rPr>
              <a:t>Version control: Git / GitHub for collaboration</a:t>
            </a:r>
            <a:endParaRPr lang="en-US" sz="1900" b="0" i="0" dirty="0">
              <a:solidFill>
                <a:srgbClr val="000000"/>
              </a:solidFill>
              <a:latin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101" name="Body 101"/>
          <p:cNvSpPr txBox="1"/>
          <p:nvPr/>
        </p:nvSpPr>
        <p:spPr>
          <a:xfrm>
            <a:off x="3100000" y="1050000"/>
            <a:ext cx="8300000" cy="5000000"/>
          </a:xfrm>
          <a:prstGeom prst="rect">
            <a:avLst/>
          </a:prstGeom>
          <a:noFill/>
        </p:spPr>
        <p:txBody>
          <a:bodyPr wrap="square" anchor="t">
            <a:normAutofit/>
          </a:bodyPr>
          <a:lstStyle/>
          <a:p>
            <a:pPr>
              <a:lnSpc>
                <a:spcPct val="105000"/>
              </a:lnSpc>
              <a:spcAft>
                <a:spcPts val="900"/>
              </a:spcAft>
              <a:buNone/>
            </a:pPr>
            <a:r>
              <a:rPr lang="en-US" sz="2000" b="0" i="0" dirty="0">
                <a:solidFill>
                  <a:srgbClr val="000000"/>
                </a:solidFill>
                <a:latin typeface="Calibri" panose="020F0502020204030204" pitchFamily="34" charset="0"/>
              </a:rPr>
              <a:t>Efficient data structures combined with targeted algorithms deliver fast, explainable match scores that improve recruiter throughput and candidate relevance.</a:t>
            </a:r>
            <a:endParaRPr lang="en-US" sz="2000" b="0" i="0" dirty="0">
              <a:solidFill>
                <a:srgbClr val="000000"/>
              </a:solidFill>
              <a:latin typeface="Calibri" panose="020F0502020204030204" pitchFamily="34" charset="0"/>
            </a:endParaRPr>
          </a:p>
          <a:p>
            <a:pPr>
              <a:lnSpc>
                <a:spcPct val="105000"/>
              </a:lnSpc>
              <a:spcAft>
                <a:spcPts val="900"/>
              </a:spcAft>
              <a:buNone/>
            </a:pPr>
            <a:r>
              <a:rPr lang="en-US" sz="2000" b="0" i="0" dirty="0">
                <a:solidFill>
                  <a:srgbClr val="000000"/>
                </a:solidFill>
                <a:latin typeface="Calibri" panose="020F0502020204030204" pitchFamily="34" charset="0"/>
              </a:rPr>
              <a:t>The engine offers a concise, production-ready pipeline for matching candidate resumes to open positions using structured data, efficient algorithms, and clear ranking logic — built for hiring managers, recruiters, and students alike.</a:t>
            </a:r>
            <a:endParaRPr lang="en-US" sz="2000" b="0" i="0" dirty="0">
              <a:solidFill>
                <a:srgbClr val="000000"/>
              </a:solidFill>
              <a:latin typeface="Calibri" panose="020F0502020204030204" pitchFamily="34" charset="0"/>
            </a:endParaRPr>
          </a:p>
          <a:p>
            <a:pPr>
              <a:lnSpc>
                <a:spcPct val="105000"/>
              </a:lnSpc>
              <a:spcAft>
                <a:spcPts val="0"/>
              </a:spcAft>
              <a:buNone/>
            </a:pPr>
            <a:r>
              <a:rPr lang="en-US" sz="2000" b="0" i="0" dirty="0">
                <a:solidFill>
                  <a:srgbClr val="000000"/>
                </a:solidFill>
                <a:latin typeface="Calibri" panose="020F0502020204030204" pitchFamily="34" charset="0"/>
              </a:rPr>
              <a:t>Additional features like skill-gap analysis, career roadmaps, and mock-interview preparation add practical value for candidates while keeping recruiter screening fast and accurate.</a:t>
            </a:r>
            <a:endParaRPr lang="en-US" sz="2000" b="0" i="0" dirty="0">
              <a:solidFill>
                <a:srgbClr val="000000"/>
              </a:solidFill>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101" name="Body 101"/>
          <p:cNvSpPr txBox="1"/>
          <p:nvPr/>
        </p:nvSpPr>
        <p:spPr>
          <a:xfrm>
            <a:off x="3100000" y="1050000"/>
            <a:ext cx="4000000" cy="42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Calibri" panose="020F0502020204030204" pitchFamily="34" charset="0"/>
              </a:rPr>
              <a:t>Short-Term Roadmap</a:t>
            </a:r>
            <a:endParaRPr lang="en-US" sz="2000" b="1" i="0" dirty="0">
              <a:solidFill>
                <a:srgbClr val="C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Add weighted skill importance and experience-decay factors.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Integrate semantic matching (embeddings) as an optional module.</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Evaluate on a labeled dataset and measure precision@k and recall.</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Optimize ranking thresholds and indexing for incremental updates.</a:t>
            </a:r>
            <a:endParaRPr lang="en-US" b="0" i="0" dirty="0">
              <a:solidFill>
                <a:srgbClr val="000000"/>
              </a:solidFill>
              <a:latin typeface="Calibri" panose="020F0502020204030204" pitchFamily="34" charset="0"/>
            </a:endParaRPr>
          </a:p>
        </p:txBody>
      </p:sp>
      <p:sp>
        <p:nvSpPr>
          <p:cNvPr id="102" name="Body 102"/>
          <p:cNvSpPr txBox="1"/>
          <p:nvPr/>
        </p:nvSpPr>
        <p:spPr>
          <a:xfrm>
            <a:off x="7400000" y="1050000"/>
            <a:ext cx="4000000" cy="4200000"/>
          </a:xfrm>
          <a:prstGeom prst="rect">
            <a:avLst/>
          </a:prstGeom>
          <a:noFill/>
        </p:spPr>
        <p:txBody>
          <a:bodyPr wrap="square" anchor="t">
            <a:normAutofit/>
          </a:bodyPr>
          <a:lstStyle/>
          <a:p>
            <a:pPr>
              <a:lnSpc>
                <a:spcPct val="105000"/>
              </a:lnSpc>
              <a:spcAft>
                <a:spcPts val="500"/>
              </a:spcAft>
              <a:buNone/>
            </a:pPr>
            <a:r>
              <a:rPr lang="en-US" sz="2000" b="1" i="0" dirty="0">
                <a:solidFill>
                  <a:srgbClr val="C00000"/>
                </a:solidFill>
                <a:latin typeface="Calibri" panose="020F0502020204030204" pitchFamily="34" charset="0"/>
              </a:rPr>
              <a:t>Long-Term Vision</a:t>
            </a:r>
            <a:endParaRPr lang="en-US" sz="2000" b="1" i="0" dirty="0">
              <a:solidFill>
                <a:srgbClr val="C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Personalized recommendations via an ML-driven career assistant.</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Recruiter analytics dashboards for hiring insights.</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Mobile-first experience backed by cloud storage.</a:t>
            </a:r>
            <a:endParaRPr lang="en-US" b="0" i="0" dirty="0">
              <a:solidFill>
                <a:srgbClr val="000000"/>
              </a:solidFill>
              <a:latin typeface="Calibri" panose="020F0502020204030204" pitchFamily="34" charset="0"/>
            </a:endParaRPr>
          </a:p>
          <a:p>
            <a:pPr marL="285750" indent="-285750">
              <a:lnSpc>
                <a:spcPct val="105000"/>
              </a:lnSpc>
              <a:spcAft>
                <a:spcPts val="450"/>
              </a:spcAft>
              <a:buFont typeface="Arial" panose="020B0604020202020204" pitchFamily="34" charset="0"/>
              <a:buChar char="•"/>
            </a:pPr>
            <a:r>
              <a:rPr lang="en-US" b="0" i="0" dirty="0">
                <a:solidFill>
                  <a:srgbClr val="000000"/>
                </a:solidFill>
                <a:latin typeface="Calibri" panose="020F0502020204030204" pitchFamily="34" charset="0"/>
              </a:rPr>
              <a:t>Scalable indexing for large-scale deployment.</a:t>
            </a:r>
            <a:endParaRPr lang="en-US" b="0" i="0" dirty="0">
              <a:solidFill>
                <a:srgbClr val="000000"/>
              </a:solidFill>
              <a:latin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5659</Words>
  <Application>WPS Presentation</Application>
  <PresentationFormat>Widescreen</PresentationFormat>
  <Paragraphs>121</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Times New Roman</vt:lpstr>
      <vt:lpstr>Gautami</vt:lpstr>
      <vt:lpstr>Segoe UI Symbol</vt:lpstr>
      <vt:lpstr>Calibri</vt:lpstr>
      <vt:lpstr>Inter Medium</vt:lpstr>
      <vt:lpstr>Microsoft YaHei</vt:lpstr>
      <vt:lpstr>Arial Unicode MS</vt:lpstr>
      <vt:lpstr>Calibri Light</vt:lpstr>
      <vt:lpstr>Office Theme</vt:lpstr>
      <vt:lpstr>       Data Structures and Algorithms -3 (25CS2103E)  Resume–Job Matching &amp; Talent Marketplace Engine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MALLIPEDDI HARSHIKA</cp:lastModifiedBy>
  <cp:revision>21</cp:revision>
  <dcterms:created xsi:type="dcterms:W3CDTF">2024-08-29T05:25:00Z</dcterms:created>
  <dcterms:modified xsi:type="dcterms:W3CDTF">2026-09-11T03:16:27Z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1033-12.1.0.28485</vt:lpwstr>
  </property>
</Properties>
</file>